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2200" b="1" i="0">
                <a:solidFill>
                  <a:srgbClr val="2A2218"/>
                </a:solidFill>
                <a:latin typeface="Palatino Linotype"/>
              </a:rPr>
              <a:t>POPPIES INLAND</a:t>
            </a:r>
          </a:p>
          <a:p>
            <a:r>
              <a:rPr sz="1100" b="0" i="1">
                <a:solidFill>
                  <a:srgbClr val="6B3A2A"/>
                </a:solidFill>
                <a:latin typeface="Palatino Linotype"/>
              </a:rPr>
              <a:t>1839 · Yunnan and Sichuan</a:t>
            </a:r>
          </a:p>
          <a:p>
            <a:r>
              <a:rPr sz="600" b="0" i="0">
                <a:solidFill>
                  <a:srgbClr val="2A2218"/>
                </a:solidFill>
                <a:latin typeface="Palatino Linotype"/>
              </a:rPr>
              <a:t/>
            </a:r>
          </a:p>
          <a:p>
            <a:pPr>
              <a:spcAft>
                <a:spcPts val="600"/>
              </a:spcAft>
            </a:pPr>
            <a:r>
              <a:rPr sz="1050" b="0" i="0">
                <a:solidFill>
                  <a:srgbClr val="2A2218"/>
                </a:solidFill>
                <a:latin typeface="Palatino Linotype"/>
              </a:rPr>
              <a:t>What landed at Lintin as a foreign cargo became, inside a generation, a crop. Yunnan's high valleys. Sichuan's river basins. The poppy stopped being an import and started being the thing that paid.</a:t>
            </a:r>
          </a:p>
          <a:p>
            <a:pPr>
              <a:spcAft>
                <a:spcPts val="600"/>
              </a:spcAft>
            </a:pPr>
            <a:r>
              <a:rPr sz="1050" b="0" i="0">
                <a:solidFill>
                  <a:srgbClr val="2A2218"/>
                </a:solidFill>
                <a:latin typeface="Palatino Linotype"/>
              </a:rPr>
              <a:t>Two grades owned the inland trade. 云土 Yúntǔ — Yunnan earth. Altitude, rich soil, a smoothness that could stand next to Patna. 川土 Chuāntǔ — Sichuan earth. Dozens of counties in the Red Basin. Worse leaf, more of it, cheaper.</a:t>
            </a:r>
          </a:p>
          <a:p>
            <a:pPr>
              <a:spcAft>
                <a:spcPts val="600"/>
              </a:spcAft>
            </a:pPr>
            <a:r>
              <a:rPr sz="1050" b="0" i="0">
                <a:solidFill>
                  <a:srgbClr val="2A2218"/>
                </a:solidFill>
                <a:latin typeface="Palatino Linotype"/>
              </a:rPr>
              <a:t>The gazetteers used the same four characters until the phrase itself became a kind of weather report. 废粮种烟 fèi liáng zhòng yān — abandon grain, plant smoke. The 坝子 bàzi, the irrigated valley floors that had fed the Southwest, went under white and purple blossom. A surplus region started buying rice. Bad weather on the leftover grain fields did the rest.</a:t>
            </a:r>
          </a:p>
          <a:p>
            <a:pPr>
              <a:spcAft>
                <a:spcPts val="600"/>
              </a:spcAft>
            </a:pPr>
            <a:r>
              <a:rPr sz="1050" b="0" i="0">
                <a:solidFill>
                  <a:srgbClr val="2A2218"/>
                </a:solidFill>
                <a:latin typeface="Palatino Linotype"/>
              </a:rPr>
              <a:t>For generations the Southwest had run a grain surplus north along the Yangzi corridor — Sichuan rice feeding Hubei, Yunnan grain moving into Guizhou's mining camps. Once the bàzi went under poppy, that surplus reversed inside a few bad seasons. Counties that had shipped rice out now bought it in, at prices that moved against them twice over: less grain grown at home, and a market price set by neighboring provinces who could see a buyer with no alternative. Local gazetteers from the 1830s onward register a shift in vocabulary as much as in price — village elders petitioning the yamen not about opium at all, but about grain shortfall, framed as a weather problem in years when the harvest had done comparatively little wrong.</a:t>
            </a:r>
          </a:p>
          <a:p>
            <a:pPr>
              <a:spcAft>
                <a:spcPts val="600"/>
              </a:spcAft>
            </a:pPr>
            <a:r>
              <a:rPr sz="1050" b="0" i="0">
                <a:solidFill>
                  <a:srgbClr val="2A2218"/>
                </a:solidFill>
                <a:latin typeface="Palatino Linotype"/>
              </a:rPr>
              <a:t>Confucian commerce had a rule for this and it was not subtle. 义利之辨 yì lì zhī biàn — the distinction between righteousness and profit. Wealth was supposed to come through 以义取利 yǐ yì qǔ lì: profit taken under right. Decades later Yan Fu, putting Adam Smith into Chinese, reached for 母财 mǔ cái for capital. Mother-wealth. A word that still sounded like something that fed a household.</a:t>
            </a:r>
          </a:p>
          <a:p>
            <a:pPr>
              <a:spcAft>
                <a:spcPts val="600"/>
              </a:spcAft>
            </a:pPr>
            <a:r>
              <a:rPr sz="1050" b="0" i="0">
                <a:solidFill>
                  <a:srgbClr val="2A2218"/>
                </a:solidFill>
                <a:latin typeface="Palatino Linotype"/>
              </a:rPr>
              <a:t>The mountain trails did not use that word.</a:t>
            </a:r>
          </a:p>
          <a:p>
            <a:pPr>
              <a:spcAft>
                <a:spcPts val="600"/>
              </a:spcAft>
            </a:pPr>
            <a:r>
              <a:rPr sz="1050" b="0" i="0">
                <a:solidFill>
                  <a:srgbClr val="2A2218"/>
                </a:solidFill>
                <a:latin typeface="Palatino Linotype"/>
              </a:rPr>
              <a:t>正月, Daoguang 21 — January 1841 — Qīng Shílù 清实录. An armed syndicate on the roads between 顺庆 Shùnqìng and 宁远 Níngyuǎn in Sichuan met imperial troops sent to break them. They did not bother with a cover name. The banner was eight characters:</a:t>
            </a:r>
          </a:p>
          <a:p>
            <a:pPr>
              <a:spcAft>
                <a:spcPts val="600"/>
              </a:spcAft>
            </a:pPr>
            <a:r>
              <a:rPr sz="1050" b="0" i="0">
                <a:solidFill>
                  <a:srgbClr val="2A2218"/>
                </a:solidFill>
                <a:latin typeface="Palatino Linotype"/>
              </a:rPr>
              <a:t>将本求利，舍命取财 Jiāng běn qiú lì, shě mìng qǔ cái Use the stake to seek profit. Risk life to take wealth.</a:t>
            </a:r>
          </a:p>
          <a:p>
            <a:pPr>
              <a:spcAft>
                <a:spcPts val="600"/>
              </a:spcAft>
            </a:pPr>
            <a:r>
              <a:rPr sz="1050" b="0" i="0">
                <a:solidFill>
                  <a:srgbClr val="2A2218"/>
                </a:solidFill>
                <a:latin typeface="Palatino Linotype"/>
              </a:rPr>
              <a:t>本 běn here is the outlay — cash turned into guns, hired men, cargo the statute forbade. 利 lì is stripped of the old obligation. 舍命 shě mìng is the cost line: their lives, the soldiers', whoever stood on the path. The Shílù recorded the slogan because it was already a public sentence. No one in those hills was translating Smith.</a:t>
            </a:r>
          </a:p>
          <a:p>
            <a:pPr>
              <a:spcAft>
                <a:spcPts val="600"/>
              </a:spcAft>
            </a:pPr>
            <a:r>
              <a:rPr sz="1050" b="0" i="0">
                <a:solidFill>
                  <a:srgbClr val="2A2218"/>
                </a:solidFill>
                <a:latin typeface="Palatino Linotype"/>
              </a:rPr>
              <a:t>Consumption followed rank.</a:t>
            </a:r>
          </a:p>
          <a:p>
            <a:pPr>
              <a:spcAft>
                <a:spcPts val="600"/>
              </a:spcAft>
            </a:pPr>
            <a:r>
              <a:rPr sz="1050" b="0" i="0">
                <a:solidFill>
                  <a:srgbClr val="2A2218"/>
                </a:solidFill>
                <a:latin typeface="Palatino Linotype"/>
              </a:rPr>
              <a:t>Gentry, officials, merchants sat in 花烟间 huāyān jiān — flower-smoke rooms — carved pipes, silver lamps, the habit dressed as leisure. Brothels ran the same furniture.</a:t>
            </a:r>
          </a:p>
          <a:p>
            <a:pPr>
              <a:spcAft>
                <a:spcPts val="600"/>
              </a:spcAft>
            </a:pPr>
            <a:r>
              <a:rPr sz="1050" b="0" i="0">
                <a:solidFill>
                  <a:srgbClr val="2A2218"/>
                </a:solidFill>
                <a:latin typeface="Palatino Linotype"/>
              </a:rPr>
              <a:t>Porters, boatmen, chair-bearers, coolies drank 笼头水 lóngtóu shuǐ — cage-water: dregs and pipe scrapings boiled back into a dark cup. Not leisure. A few hours off the pain. Wages gone. Households after that.</a:t>
            </a:r>
          </a:p>
          <a:p>
            <a:pPr>
              <a:spcAft>
                <a:spcPts val="600"/>
              </a:spcAft>
            </a:pPr>
            <a:r>
              <a:rPr sz="1050" b="0" i="0">
                <a:solidFill>
                  <a:srgbClr val="2A2218"/>
                </a:solidFill>
                <a:latin typeface="Palatino Linotype"/>
              </a:rPr>
              <a:t>The yamen in the interior had two failures and chose a third. Pull the plants and the villages whose year now lived in the poppy rose. Leave them and the district missed its grain quota and its silver quota both. So the clerks invented a fee schedule. Fines. Inspection money. 土药厘 tǔyào lí — native-drug likin — levied on the grower and the den. Pocketed, or poured into the hole in the local books. The prohibition office became the protection office.</a:t>
            </a:r>
          </a:p>
          <a:p>
            <a:pPr>
              <a:spcAft>
                <a:spcPts val="600"/>
              </a:spcAft>
            </a:pPr>
            <a:r>
              <a:rPr sz="1050" b="0" i="0">
                <a:solidFill>
                  <a:srgbClr val="2A2218"/>
                </a:solidFill>
                <a:latin typeface="Palatino Linotype"/>
              </a:rPr>
              <a:t>Lin was still at the coast trying to stop the foreign chests. Behind him the interior was already in flower.</a:t>
            </a:r>
          </a:p>
        </p:txBody>
      </p:sp>
      <p:pic>
        <p:nvPicPr>
          <p:cNvPr id="5" name="Picture 4" descr="01-lintin-to-crop.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yunnan-sichuan-earth.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abandon-grain.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grain-surplus-reverses.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slogan-banner.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flower-smoke-rooms.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cage-water.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likin-and-lin.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